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77" r:id="rId8"/>
    <p:sldId id="278" r:id="rId9"/>
    <p:sldId id="263" r:id="rId10"/>
    <p:sldId id="271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8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>
      <p:cViewPr varScale="1">
        <p:scale>
          <a:sx n="107" d="100"/>
          <a:sy n="107" d="100"/>
        </p:scale>
        <p:origin x="176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2862FFA-7802-47B0-A5C6-9469D718B83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B48D-2240-4C44-9509-7E74F5C4A0E0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24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2FFA-7802-47B0-A5C6-9469D718B83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B48D-2240-4C44-9509-7E74F5C4A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426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2FFA-7802-47B0-A5C6-9469D718B83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B48D-2240-4C44-9509-7E74F5C4A0E0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68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2FFA-7802-47B0-A5C6-9469D718B83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B48D-2240-4C44-9509-7E74F5C4A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605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2FFA-7802-47B0-A5C6-9469D718B83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B48D-2240-4C44-9509-7E74F5C4A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582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2FFA-7802-47B0-A5C6-9469D718B83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B48D-2240-4C44-9509-7E74F5C4A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388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2FFA-7802-47B0-A5C6-9469D718B83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B48D-2240-4C44-9509-7E74F5C4A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32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2FFA-7802-47B0-A5C6-9469D718B83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B48D-2240-4C44-9509-7E74F5C4A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88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2FFA-7802-47B0-A5C6-9469D718B83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B48D-2240-4C44-9509-7E74F5C4A0E0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763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2FFA-7802-47B0-A5C6-9469D718B83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B48D-2240-4C44-9509-7E74F5C4A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204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62FFA-7802-47B0-A5C6-9469D718B83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B48D-2240-4C44-9509-7E74F5C4A0E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35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2862FFA-7802-47B0-A5C6-9469D718B836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EAEB48D-2240-4C44-9509-7E74F5C4A0E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77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poojadkhair/" TargetMode="External"/><Relationship Id="rId2" Type="http://schemas.openxmlformats.org/officeDocument/2006/relationships/hyperlink" Target="mailto:poojadagadkhair6@gmail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oojadagadkhair.github.io/Pooja-s-Portfolio-Website-/" TargetMode="External"/><Relationship Id="rId4" Type="http://schemas.openxmlformats.org/officeDocument/2006/relationships/hyperlink" Target="https://github.com/PoojaDagadkhai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176" y="620688"/>
            <a:ext cx="7851648" cy="1787624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b="1" dirty="0"/>
              <a:t>Analytical CRM Development for a Bank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7904" y="4866021"/>
            <a:ext cx="7854696" cy="1752600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Presented by </a:t>
            </a:r>
          </a:p>
          <a:p>
            <a:pPr algn="ctr"/>
            <a:r>
              <a:rPr lang="en-IN" dirty="0"/>
              <a:t>Pooja Dagadkhair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37DC96-E97D-3EF0-A3C3-8154A10D272A}"/>
              </a:ext>
            </a:extLst>
          </p:cNvPr>
          <p:cNvSpPr txBox="1"/>
          <p:nvPr/>
        </p:nvSpPr>
        <p:spPr>
          <a:xfrm>
            <a:off x="16186" y="4653136"/>
            <a:ext cx="6284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Tools Used:</a:t>
            </a:r>
            <a:r>
              <a:rPr lang="en-US" sz="1800" dirty="0"/>
              <a:t> MySQL, Power BI, MS Word, MS PowerPoint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28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026DB7-85B9-17DD-196B-37D003A12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171" y="2348880"/>
            <a:ext cx="3241657" cy="3080843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marL="91440" indent="-91440" defTabSz="914400" fontAlgn="base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dirty="0"/>
              <a:t>Problem Statement</a:t>
            </a:r>
          </a:p>
          <a:p>
            <a:pPr marL="91440" indent="-91440" defTabSz="914400" fontAlgn="base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dirty="0"/>
              <a:t>Objective</a:t>
            </a:r>
          </a:p>
          <a:p>
            <a:pPr marL="91440" indent="-91440" defTabSz="914400" fontAlgn="base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dirty="0"/>
              <a:t>Data Overview</a:t>
            </a:r>
          </a:p>
          <a:p>
            <a:pPr marL="91440" indent="-91440" defTabSz="914400" fontAlgn="base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dirty="0"/>
              <a:t>Methodology</a:t>
            </a:r>
          </a:p>
          <a:p>
            <a:pPr marL="91440" indent="-91440" defTabSz="914400" fontAlgn="base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dirty="0"/>
              <a:t>Key Metrics &amp; Visualizations</a:t>
            </a:r>
          </a:p>
          <a:p>
            <a:pPr marL="91440" indent="-91440" defTabSz="914400" fontAlgn="base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dirty="0"/>
              <a:t>Insights &amp; Analysis</a:t>
            </a:r>
          </a:p>
          <a:p>
            <a:pPr marL="91440" indent="-91440" defTabSz="914400" fontAlgn="base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822706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Problem Statement</a:t>
            </a:r>
            <a:endParaRPr lang="en-IN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DEC6CD9-E3CE-0D03-AAD4-A3FEC72925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5536" y="2127439"/>
            <a:ext cx="864095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bank wants to reduce customer churn, improve service, and enhance 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Provided datasets include: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Arial" panose="020B0604020202020204" pitchFamily="34" charset="0"/>
              </a:rPr>
              <a:t>Customer demographics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Arial" panose="020B0604020202020204" pitchFamily="34" charset="0"/>
              </a:rPr>
              <a:t>Transaction details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Arial" panose="020B0604020202020204" pitchFamily="34" charset="0"/>
              </a:rPr>
              <a:t>Customer exit information</a:t>
            </a: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Arial" panose="020B0604020202020204" pitchFamily="34" charset="0"/>
              </a:rPr>
              <a:t>Active customer profiles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  Extract actionable insights to support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296897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80696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Methodology</a:t>
            </a:r>
            <a:endParaRPr lang="en-IN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5A1582A-B167-DF57-8164-9ACC2C6D67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5576" y="548680"/>
            <a:ext cx="7290055" cy="4023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patterns in customer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churn and retention drivers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actionable recommendations for customer engagement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interactive dashboards for sales, marketing, and CRM teams</a:t>
            </a:r>
          </a:p>
        </p:txBody>
      </p:sp>
    </p:spTree>
    <p:extLst>
      <p:ext uri="{BB962C8B-B14F-4D97-AF65-F5344CB8AC3E}">
        <p14:creationId xmlns:p14="http://schemas.microsoft.com/office/powerpoint/2010/main" val="1075942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Data Overview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96855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 our data the following details are present :</a:t>
            </a:r>
          </a:p>
          <a:p>
            <a:pPr fontAlgn="base"/>
            <a:r>
              <a:rPr lang="en-US" b="1" dirty="0"/>
              <a:t>CustomerId:</a:t>
            </a:r>
            <a:r>
              <a:rPr lang="en-US" dirty="0"/>
              <a:t> A unique identifier for each customer.</a:t>
            </a:r>
            <a:endParaRPr lang="en-US" b="1" dirty="0"/>
          </a:p>
          <a:p>
            <a:pPr fontAlgn="base"/>
            <a:r>
              <a:rPr lang="en-US" b="1" dirty="0"/>
              <a:t>CreditScore: </a:t>
            </a:r>
            <a:r>
              <a:rPr lang="en-US" dirty="0"/>
              <a:t>A numerical representation of the customer's creditworthiness.</a:t>
            </a:r>
            <a:endParaRPr lang="en-US" b="1" dirty="0"/>
          </a:p>
          <a:p>
            <a:pPr lvl="1" fontAlgn="base"/>
            <a:r>
              <a:rPr lang="en-US" sz="3200" b="1" dirty="0"/>
              <a:t>Credit score: </a:t>
            </a:r>
          </a:p>
          <a:p>
            <a:pPr lvl="2" fontAlgn="base"/>
            <a:r>
              <a:rPr lang="en-US" sz="3200" dirty="0"/>
              <a:t>Excellent: 800–850</a:t>
            </a:r>
          </a:p>
          <a:p>
            <a:pPr lvl="2" fontAlgn="base"/>
            <a:r>
              <a:rPr lang="en-US" sz="3200" dirty="0"/>
              <a:t>Very Good: 740–799</a:t>
            </a:r>
          </a:p>
          <a:p>
            <a:pPr lvl="2" fontAlgn="base"/>
            <a:r>
              <a:rPr lang="en-US" sz="3200" dirty="0"/>
              <a:t>Good: 670–739</a:t>
            </a:r>
          </a:p>
          <a:p>
            <a:pPr lvl="2" fontAlgn="base"/>
            <a:r>
              <a:rPr lang="en-US" sz="3200" dirty="0"/>
              <a:t>Fair: 580–669</a:t>
            </a:r>
          </a:p>
          <a:p>
            <a:pPr lvl="2" fontAlgn="base"/>
            <a:r>
              <a:rPr lang="en-US" sz="3200" dirty="0"/>
              <a:t>Poor: 300–579</a:t>
            </a:r>
          </a:p>
          <a:p>
            <a:pPr fontAlgn="base"/>
            <a:r>
              <a:rPr lang="en-US" b="1" dirty="0"/>
              <a:t>GeographyID:</a:t>
            </a:r>
            <a:r>
              <a:rPr lang="en-US" dirty="0"/>
              <a:t> A numerical identifier that likely corresponds to a geographical location, such as a country or region.</a:t>
            </a:r>
            <a:endParaRPr lang="en-US" b="1" dirty="0"/>
          </a:p>
          <a:p>
            <a:pPr fontAlgn="base"/>
            <a:r>
              <a:rPr lang="en-US" b="1" dirty="0"/>
              <a:t>GenderID:</a:t>
            </a:r>
            <a:r>
              <a:rPr lang="en-US" dirty="0"/>
              <a:t> A numerical identifier for the customer's gender, where for example, '1' could represent male and '2' could represent female.</a:t>
            </a:r>
          </a:p>
          <a:p>
            <a:pPr fontAlgn="base"/>
            <a:r>
              <a:rPr lang="en-US" b="1" dirty="0"/>
              <a:t>Age:</a:t>
            </a:r>
            <a:r>
              <a:rPr lang="en-US" dirty="0"/>
              <a:t> The age of the customer.</a:t>
            </a:r>
            <a:endParaRPr lang="en-US" b="1" dirty="0"/>
          </a:p>
          <a:p>
            <a:pPr fontAlgn="base"/>
            <a:r>
              <a:rPr lang="en-US" b="1" dirty="0"/>
              <a:t>Tenure: </a:t>
            </a:r>
            <a:r>
              <a:rPr lang="en-US" dirty="0"/>
              <a:t>The number of years the customer has been with the bank.</a:t>
            </a:r>
            <a:endParaRPr lang="en-US" b="1" dirty="0"/>
          </a:p>
          <a:p>
            <a:pPr fontAlgn="base"/>
            <a:r>
              <a:rPr lang="en-US" b="1" dirty="0"/>
              <a:t>Balance: </a:t>
            </a:r>
            <a:r>
              <a:rPr lang="en-US" dirty="0"/>
              <a:t>Current balance in the customer's account.</a:t>
            </a:r>
            <a:endParaRPr lang="en-US" b="1" dirty="0"/>
          </a:p>
          <a:p>
            <a:pPr fontAlgn="base"/>
            <a:endParaRPr lang="en-US" sz="29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042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 fontScale="70000" lnSpcReduction="20000"/>
          </a:bodyPr>
          <a:lstStyle/>
          <a:p>
            <a:pPr fontAlgn="base"/>
            <a:r>
              <a:rPr lang="en-US" sz="2900" b="1" dirty="0"/>
              <a:t>NumOfProducts</a:t>
            </a:r>
            <a:r>
              <a:rPr lang="en-US" sz="2900" dirty="0"/>
              <a:t>: refers to the number of products that a customer has purchased through the bank. </a:t>
            </a:r>
            <a:endParaRPr lang="en-US" sz="2900" b="1" dirty="0"/>
          </a:p>
          <a:p>
            <a:pPr fontAlgn="base"/>
            <a:r>
              <a:rPr lang="en-US" sz="2900" b="1" dirty="0"/>
              <a:t>HasCrCard</a:t>
            </a:r>
            <a:r>
              <a:rPr lang="en-US" sz="2900" dirty="0"/>
              <a:t>: denotes whether or not a customer has a credit card. This column is also relevant, since people with a credit card are less likely to leave the bank.</a:t>
            </a:r>
            <a:endParaRPr lang="en-US" sz="2900" b="1" dirty="0"/>
          </a:p>
          <a:p>
            <a:pPr lvl="1" fontAlgn="base"/>
            <a:r>
              <a:rPr lang="en-US" sz="2900" dirty="0"/>
              <a:t>1 represents credit card holder</a:t>
            </a:r>
          </a:p>
          <a:p>
            <a:pPr lvl="1" fontAlgn="base"/>
            <a:r>
              <a:rPr lang="en-US" sz="2900" dirty="0"/>
              <a:t>0 represents non credit card holder</a:t>
            </a:r>
          </a:p>
          <a:p>
            <a:pPr fontAlgn="base"/>
            <a:r>
              <a:rPr lang="en-US" sz="2900" b="1" dirty="0"/>
              <a:t>IsActiveMember:</a:t>
            </a:r>
            <a:r>
              <a:rPr lang="en-US" sz="2900" dirty="0"/>
              <a:t> active customers are less likely to leave the bank (as per the criteria defined by the bank for identifying the activeness).</a:t>
            </a:r>
            <a:endParaRPr lang="en-US" sz="2900" b="1" dirty="0"/>
          </a:p>
          <a:p>
            <a:pPr lvl="1" fontAlgn="base"/>
            <a:r>
              <a:rPr lang="en-US" sz="2900" dirty="0"/>
              <a:t>1 represents Active Member</a:t>
            </a:r>
          </a:p>
          <a:p>
            <a:pPr lvl="1" fontAlgn="base"/>
            <a:r>
              <a:rPr lang="en-US" sz="2900" dirty="0"/>
              <a:t>0 represents Inactive Member</a:t>
            </a:r>
          </a:p>
          <a:p>
            <a:pPr fontAlgn="base"/>
            <a:r>
              <a:rPr lang="en-US" sz="2900" b="1" dirty="0"/>
              <a:t>Estimated Salary: </a:t>
            </a:r>
            <a:r>
              <a:rPr lang="en-US" sz="2900" dirty="0"/>
              <a:t>as with balance, people with lower salaries are more likely to leave the bank compared to those with higher salaries.</a:t>
            </a:r>
            <a:endParaRPr lang="en-US" sz="2900" b="1" dirty="0"/>
          </a:p>
          <a:p>
            <a:pPr fontAlgn="base"/>
            <a:r>
              <a:rPr lang="en-US" sz="2900" b="1" dirty="0"/>
              <a:t>Exited:</a:t>
            </a:r>
            <a:r>
              <a:rPr lang="en-US" sz="2900" dirty="0"/>
              <a:t> whether or not the customer left the bank.</a:t>
            </a:r>
            <a:endParaRPr lang="en-US" sz="2900" b="1" dirty="0"/>
          </a:p>
          <a:p>
            <a:pPr lvl="1" fontAlgn="base"/>
            <a:r>
              <a:rPr lang="en-US" sz="2900" dirty="0"/>
              <a:t>0 represents Retain </a:t>
            </a:r>
          </a:p>
          <a:p>
            <a:pPr lvl="1" fontAlgn="base"/>
            <a:r>
              <a:rPr lang="en-US" sz="2900" dirty="0"/>
              <a:t>1 represents Exit</a:t>
            </a:r>
          </a:p>
          <a:p>
            <a:pPr fontAlgn="base"/>
            <a:r>
              <a:rPr lang="en-US" sz="2900" b="1" dirty="0"/>
              <a:t>Bank DOJ:</a:t>
            </a:r>
            <a:r>
              <a:rPr lang="en-US" sz="2900" dirty="0"/>
              <a:t> date when the Customer associated/joined  with the bank.</a:t>
            </a:r>
            <a:endParaRPr lang="en-US" sz="29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934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52704"/>
          </a:xfrm>
        </p:spPr>
        <p:txBody>
          <a:bodyPr/>
          <a:lstStyle/>
          <a:p>
            <a:pPr algn="ctr"/>
            <a:r>
              <a:rPr lang="en-US" b="1" dirty="0"/>
              <a:t>Churn Rates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Customer churn is the rate at which customers stop using a company's products or services, is a crucial metric for banks.</a:t>
            </a:r>
          </a:p>
          <a:p>
            <a:endParaRPr lang="en-US" sz="2200" dirty="0"/>
          </a:p>
          <a:p>
            <a:r>
              <a:rPr lang="en-US" sz="2200" dirty="0"/>
              <a:t> The churn rate directly impacts revenue and profitability.</a:t>
            </a:r>
          </a:p>
          <a:p>
            <a:endParaRPr lang="en-US" sz="2200" dirty="0"/>
          </a:p>
          <a:p>
            <a:r>
              <a:rPr lang="en-US" sz="2200" dirty="0"/>
              <a:t> Here, we will analyze our bank's customer churn rates, focusing on gender, recent years, customers with credit cards, number of products used, credit score-wise churn count, and geography-wise churn count.</a:t>
            </a:r>
          </a:p>
          <a:p>
            <a:endParaRPr lang="en-US" sz="29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2937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Customers Acquisition over the Years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835748" y="2286000"/>
            <a:ext cx="7155003" cy="40227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5576" y="1772816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Here we can that there is steady increase in the number of customers over the years.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1977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pPr algn="ctr"/>
            <a:r>
              <a:rPr lang="en-US" b="1" dirty="0"/>
              <a:t>Customer Behavior Analysis</a:t>
            </a:r>
            <a:endParaRPr lang="en-IN" b="1" dirty="0"/>
          </a:p>
        </p:txBody>
      </p:sp>
      <p:pic>
        <p:nvPicPr>
          <p:cNvPr id="5" name="Picture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4" t="48321" r="62437" b="21973"/>
          <a:stretch/>
        </p:blipFill>
        <p:spPr bwMode="auto">
          <a:xfrm>
            <a:off x="4499992" y="1556792"/>
            <a:ext cx="4104456" cy="44644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79512" y="1803881"/>
            <a:ext cx="41044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Financial stability and tenure:</a:t>
            </a:r>
          </a:p>
          <a:p>
            <a:r>
              <a:rPr lang="en-US" dirty="0"/>
              <a:t>There is a hike in the 4</a:t>
            </a:r>
            <a:r>
              <a:rPr lang="en-US" baseline="30000" dirty="0"/>
              <a:t>th</a:t>
            </a:r>
            <a:r>
              <a:rPr lang="en-US" dirty="0"/>
              <a:t> tenure but it gradually it has started decreasing.</a:t>
            </a:r>
          </a:p>
          <a:p>
            <a:endParaRPr lang="en-US" dirty="0"/>
          </a:p>
          <a:p>
            <a:r>
              <a:rPr lang="en-IN" b="1" dirty="0"/>
              <a:t>Targeted Engagement</a:t>
            </a:r>
            <a:r>
              <a:rPr lang="en-IN" dirty="0"/>
              <a:t>: The higher spending capacity of customers with 3–5 years of tenure suggests they may be a valuable segment for targeted engagement strategies. </a:t>
            </a:r>
          </a:p>
          <a:p>
            <a:endParaRPr lang="en-US" dirty="0"/>
          </a:p>
          <a:p>
            <a:r>
              <a:rPr lang="en-IN" dirty="0"/>
              <a:t>Longer-tenured customers may demonstrate higher earning potential, customer retention efforts should not overlook the needs of newer customers.</a:t>
            </a:r>
          </a:p>
        </p:txBody>
      </p:sp>
    </p:spTree>
    <p:extLst>
      <p:ext uri="{BB962C8B-B14F-4D97-AF65-F5344CB8AC3E}">
        <p14:creationId xmlns:p14="http://schemas.microsoft.com/office/powerpoint/2010/main" val="2278915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80696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Salary vs. Balance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835748" y="2286000"/>
            <a:ext cx="7155003" cy="40227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67544" y="1556792"/>
            <a:ext cx="82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Here, by just looking to this chart we can say that there is no relationship between the salary and the balance of customers.</a:t>
            </a:r>
          </a:p>
          <a:p>
            <a:endParaRPr lang="en-US" dirty="0"/>
          </a:p>
          <a:p>
            <a:r>
              <a:rPr lang="en-US" dirty="0"/>
              <a:t>No correlation is found between the two.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5005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13771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Product Affinity Study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5030" t="53158" r="78104" b="17632"/>
          <a:stretch/>
        </p:blipFill>
        <p:spPr bwMode="auto">
          <a:xfrm>
            <a:off x="4788024" y="1700808"/>
            <a:ext cx="4049559" cy="39604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29156" y="2204864"/>
            <a:ext cx="40324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Commonly used Product: </a:t>
            </a:r>
            <a:r>
              <a:rPr lang="en-US" dirty="0"/>
              <a:t>Over 90% of the customers uses product 1 and 2.</a:t>
            </a:r>
          </a:p>
          <a:p>
            <a:endParaRPr lang="en-US" dirty="0"/>
          </a:p>
          <a:p>
            <a:r>
              <a:rPr lang="en-IN" b="1" dirty="0"/>
              <a:t>Cross-Selling Potential:</a:t>
            </a:r>
            <a:r>
              <a:rPr lang="en-IN" dirty="0"/>
              <a:t> Customers using 1 product may benefit from targeted promotions.</a:t>
            </a:r>
          </a:p>
          <a:p>
            <a:endParaRPr lang="en-US" dirty="0"/>
          </a:p>
          <a:p>
            <a:r>
              <a:rPr lang="en-IN" b="1" dirty="0"/>
              <a:t>Active Customer Engagement:</a:t>
            </a:r>
            <a:r>
              <a:rPr lang="en-IN" dirty="0"/>
              <a:t> Focus cross selling efforts on engaging customers.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728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936104"/>
          </a:xfrm>
        </p:spPr>
        <p:txBody>
          <a:bodyPr/>
          <a:lstStyle/>
          <a:p>
            <a:pPr algn="ctr"/>
            <a:r>
              <a:rPr lang="en-US" b="1" dirty="0"/>
              <a:t>Geographic</a:t>
            </a:r>
            <a:r>
              <a:rPr lang="en-US" dirty="0"/>
              <a:t> </a:t>
            </a:r>
            <a:r>
              <a:rPr lang="en-US" b="1" dirty="0"/>
              <a:t>market</a:t>
            </a:r>
            <a:r>
              <a:rPr lang="en-US" dirty="0"/>
              <a:t> </a:t>
            </a:r>
            <a:r>
              <a:rPr lang="en-US" b="1" dirty="0"/>
              <a:t>trends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2487" t="53158" r="46889" b="14474"/>
          <a:stretch/>
        </p:blipFill>
        <p:spPr bwMode="auto">
          <a:xfrm>
            <a:off x="4788024" y="1484784"/>
            <a:ext cx="3768511" cy="23677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 rotWithShape="1">
          <a:blip r:embed="rId3"/>
          <a:srcRect l="53555" t="52895" r="30023" b="14210"/>
          <a:stretch/>
        </p:blipFill>
        <p:spPr bwMode="auto">
          <a:xfrm>
            <a:off x="5004049" y="4149081"/>
            <a:ext cx="3528392" cy="20882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55504" y="2132856"/>
            <a:ext cx="42070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Customer Distribution across region:</a:t>
            </a:r>
          </a:p>
          <a:p>
            <a:r>
              <a:rPr lang="en-US" dirty="0"/>
              <a:t>France has the highest number of customers followed by Spain and Germany.</a:t>
            </a:r>
          </a:p>
          <a:p>
            <a:endParaRPr lang="en-US" dirty="0"/>
          </a:p>
          <a:p>
            <a:r>
              <a:rPr lang="en-US" b="1" dirty="0"/>
              <a:t>Churn Rates: </a:t>
            </a:r>
            <a:r>
              <a:rPr lang="en-US" dirty="0"/>
              <a:t>In Germany there is the highest churn rate when compared t other  regions.</a:t>
            </a:r>
          </a:p>
          <a:p>
            <a:endParaRPr lang="en-US" dirty="0"/>
          </a:p>
          <a:p>
            <a:pPr fontAlgn="base"/>
            <a:r>
              <a:rPr lang="en-IN" dirty="0"/>
              <a:t>Despite the churn rates, over 80% of the customers remain retained in various regions particularly, in France and Spain. </a:t>
            </a:r>
          </a:p>
        </p:txBody>
      </p:sp>
    </p:spTree>
    <p:extLst>
      <p:ext uri="{BB962C8B-B14F-4D97-AF65-F5344CB8AC3E}">
        <p14:creationId xmlns:p14="http://schemas.microsoft.com/office/powerpoint/2010/main" val="443818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Risk Management Assessment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4587" t="39737" r="60646" b="14737"/>
          <a:stretch/>
        </p:blipFill>
        <p:spPr bwMode="auto">
          <a:xfrm>
            <a:off x="4932040" y="1793776"/>
            <a:ext cx="4019531" cy="44644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9552" y="1772816"/>
            <a:ext cx="39604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N" dirty="0"/>
              <a:t>Since the younger age customers carry the higher balance the efforts to increase engagement and customer retention among inactive younger customer can be beneficial. </a:t>
            </a:r>
          </a:p>
          <a:p>
            <a:pPr fontAlgn="base"/>
            <a:endParaRPr lang="en-IN" dirty="0"/>
          </a:p>
          <a:p>
            <a:pPr fontAlgn="base"/>
            <a:r>
              <a:rPr lang="en-IN" dirty="0"/>
              <a:t>With the oldest age bucket the engagement strategies may not impact the bank’s overall balance but it can create the diverse growth opportunity.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3483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3668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Customer Lifetime Value Forecast </a:t>
            </a:r>
            <a:endParaRPr lang="en-IN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1" t="28804" r="51141" b="42471"/>
          <a:stretch/>
        </p:blipFill>
        <p:spPr bwMode="auto">
          <a:xfrm>
            <a:off x="5148064" y="1340768"/>
            <a:ext cx="3295464" cy="27363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67544" y="1628800"/>
            <a:ext cx="446449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Credit Card Usage and Exit Rates: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Lower exit rates among credit card holders.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Female customers have slightly higher exit rates. </a:t>
            </a:r>
          </a:p>
          <a:p>
            <a:endParaRPr lang="en-US" dirty="0"/>
          </a:p>
          <a:p>
            <a:r>
              <a:rPr lang="en-US" b="1" dirty="0"/>
              <a:t>Tenure and Financial Metrics: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Stable financial behavior over time. </a:t>
            </a:r>
          </a:p>
          <a:p>
            <a:endParaRPr lang="en-US" dirty="0"/>
          </a:p>
          <a:p>
            <a:r>
              <a:rPr lang="en-US" b="1" dirty="0"/>
              <a:t>Credit Score and Account Balance: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Higher credit scores linked to higher average balances.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Credit score not sole determinant of account balance.</a:t>
            </a:r>
          </a:p>
          <a:p>
            <a:endParaRPr lang="en-IN" dirty="0"/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l="4734" t="20790" r="76921" b="46842"/>
          <a:stretch/>
        </p:blipFill>
        <p:spPr bwMode="auto">
          <a:xfrm>
            <a:off x="5148064" y="4149080"/>
            <a:ext cx="3384376" cy="24174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93301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92471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Marketing Campaign Effectiveness</a:t>
            </a:r>
            <a:endParaRPr lang="en-IN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02" t="29627" r="31155" b="42140"/>
          <a:stretch/>
        </p:blipFill>
        <p:spPr bwMode="auto">
          <a:xfrm>
            <a:off x="4932040" y="1844824"/>
            <a:ext cx="3586341" cy="42484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95536" y="2492896"/>
            <a:ext cx="40324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Customer Segmentation: </a:t>
            </a:r>
            <a:r>
              <a:rPr lang="en-IN" dirty="0"/>
              <a:t>Customers were segmented based on their credit score ranges, including Excellent, Very Good, Good, Fair and Poor. </a:t>
            </a:r>
          </a:p>
          <a:p>
            <a:endParaRPr lang="en-US" dirty="0"/>
          </a:p>
          <a:p>
            <a:r>
              <a:rPr lang="en-IN" dirty="0"/>
              <a:t>Customer with higher credit score tend to have higher account balance and estimated salary.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45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924712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Campaign Effectiveness over Time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5178" t="20526" r="77957" b="49737"/>
          <a:stretch/>
        </p:blipFill>
        <p:spPr bwMode="auto">
          <a:xfrm>
            <a:off x="5148064" y="2060848"/>
            <a:ext cx="3600400" cy="35283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11560" y="2132856"/>
            <a:ext cx="42484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 observed variations in exit rates over the years 2016 to 2019. </a:t>
            </a:r>
          </a:p>
          <a:p>
            <a:endParaRPr lang="en-IN" dirty="0"/>
          </a:p>
          <a:p>
            <a:r>
              <a:rPr lang="en-IN" dirty="0"/>
              <a:t>In 2017, the exit rate was highest at 22.4%, followed by 2018 at 20.2%. </a:t>
            </a:r>
          </a:p>
          <a:p>
            <a:endParaRPr lang="en-IN" dirty="0"/>
          </a:p>
          <a:p>
            <a:r>
              <a:rPr lang="en-IN" dirty="0"/>
              <a:t>However, the exit rate decreased slightly in 2019 to 19.9%, suggesting potential fluctuations in customer churn rates in response to marketing campaigns over time.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6380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1152128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 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Comparative Analysis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5" t="28636" r="30463" b="42638"/>
          <a:stretch/>
        </p:blipFill>
        <p:spPr bwMode="auto">
          <a:xfrm>
            <a:off x="4499992" y="1628800"/>
            <a:ext cx="4104456" cy="42484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39552" y="1844824"/>
            <a:ext cx="36724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Here, we can see that Fair credit category has the higher exit rate followed by Poor category.</a:t>
            </a:r>
          </a:p>
          <a:p>
            <a:endParaRPr lang="en-US" dirty="0"/>
          </a:p>
          <a:p>
            <a:r>
              <a:rPr lang="en-US" dirty="0"/>
              <a:t>As per the number of customers we can see that in all the credit categories the retention rate is good enough.</a:t>
            </a:r>
          </a:p>
          <a:p>
            <a:endParaRPr lang="en-US" dirty="0"/>
          </a:p>
          <a:p>
            <a:r>
              <a:rPr lang="en-US" dirty="0"/>
              <a:t>Therefore we can say that the credit scores do not have any impact on churn rates.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916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72008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rmAutofit fontScale="2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7600" dirty="0"/>
              <a:t>Despite the increase in the number of customers over the years, the bank has experienced a consistent churn rate.</a:t>
            </a:r>
          </a:p>
          <a:p>
            <a:pPr marL="0" indent="0">
              <a:buNone/>
            </a:pPr>
            <a:endParaRPr lang="en-US" sz="7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7600" dirty="0"/>
              <a:t> Middle age group customers have the highest churn rates, indicating specific retention challenges.</a:t>
            </a:r>
            <a:br>
              <a:rPr lang="en-US" sz="7600" dirty="0"/>
            </a:br>
            <a:endParaRPr lang="en-US" sz="7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7600" dirty="0"/>
              <a:t>Improving customer engagement, enhancing customer service, and offering competitive products or services are key strategies to reduce churn.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7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7600" dirty="0"/>
              <a:t>Targeted marketing and personalized offers can help retain customers in critical age and credit score groups.</a:t>
            </a:r>
          </a:p>
          <a:p>
            <a:pPr marL="0" indent="0">
              <a:buNone/>
            </a:pPr>
            <a:endParaRPr lang="en-US" sz="7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7600" dirty="0"/>
              <a:t>We have also seen that customer with highest average balance are more likely to churn, in this case targeted marketing and personalized offers can help in retaining those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7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7600" dirty="0"/>
              <a:t>Overall, by focusing on customer engagement, service enhancement, and targeted strategies for specific customer segments, the bank can reduce churn, improve customer retention, and foster long-term customer loyalty.</a:t>
            </a:r>
            <a:endParaRPr lang="en-IN" sz="7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275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Dashboard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4" t="22404" r="36117" b="21974"/>
          <a:stretch/>
        </p:blipFill>
        <p:spPr bwMode="auto">
          <a:xfrm>
            <a:off x="395536" y="1196752"/>
            <a:ext cx="8280000" cy="54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3603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3" t="21947" r="35989" b="21925"/>
          <a:stretch/>
        </p:blipFill>
        <p:spPr bwMode="auto">
          <a:xfrm>
            <a:off x="539552" y="1124744"/>
            <a:ext cx="8280000" cy="54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04696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3" t="21032" r="30463" b="14420"/>
          <a:stretch/>
        </p:blipFill>
        <p:spPr bwMode="auto">
          <a:xfrm>
            <a:off x="395536" y="764704"/>
            <a:ext cx="8280000" cy="54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67454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7" t="20347" r="30463" b="14499"/>
          <a:stretch/>
        </p:blipFill>
        <p:spPr bwMode="auto">
          <a:xfrm>
            <a:off x="395536" y="764704"/>
            <a:ext cx="8280000" cy="540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0653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324544" y="980728"/>
            <a:ext cx="8568952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Thank You</a:t>
            </a:r>
          </a:p>
          <a:p>
            <a:pPr algn="ctr"/>
            <a:endParaRPr lang="en-US" sz="166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B7DEE-7E2F-C650-2008-A28D7A51FD8E}"/>
              </a:ext>
            </a:extLst>
          </p:cNvPr>
          <p:cNvSpPr txBox="1"/>
          <p:nvPr/>
        </p:nvSpPr>
        <p:spPr>
          <a:xfrm>
            <a:off x="1547664" y="2132856"/>
            <a:ext cx="65882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/>
              <a:t>Email: </a:t>
            </a:r>
            <a:r>
              <a:rPr lang="en-IN" dirty="0">
                <a:hlinkClick r:id="rId2"/>
              </a:rPr>
              <a:t>poojadagadkhair6@gmail.com</a:t>
            </a:r>
            <a:endParaRPr lang="en-IN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/>
              <a:t>LinkedIn: </a:t>
            </a:r>
            <a:r>
              <a:rPr lang="en-IN" dirty="0">
                <a:hlinkClick r:id="rId3"/>
              </a:rPr>
              <a:t>https://www.linkedin.com/in/poojadkhair/</a:t>
            </a:r>
            <a:endParaRPr lang="en-IN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/>
              <a:t>GitHub links: </a:t>
            </a:r>
            <a:r>
              <a:rPr lang="en-IN" dirty="0">
                <a:hlinkClick r:id="rId4"/>
              </a:rPr>
              <a:t>https://github.com/PoojaDagadkhair</a:t>
            </a:r>
            <a:endParaRPr lang="en-IN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/>
              <a:t>Profile Portfolio: </a:t>
            </a:r>
            <a:r>
              <a:rPr lang="en-IN" dirty="0">
                <a:hlinkClick r:id="rId5"/>
              </a:rPr>
              <a:t>https://poojadagadkhair.github.io/Pooja-s-Portfolio-Website-/</a:t>
            </a:r>
            <a:endParaRPr lang="en-IN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77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291</TotalTime>
  <Words>1172</Words>
  <Application>Microsoft Office PowerPoint</Application>
  <PresentationFormat>On-screen Show (4:3)</PresentationFormat>
  <Paragraphs>137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Tw Cen MT</vt:lpstr>
      <vt:lpstr>Tw Cen MT Condensed</vt:lpstr>
      <vt:lpstr>Wingdings</vt:lpstr>
      <vt:lpstr>Wingdings 3</vt:lpstr>
      <vt:lpstr>Integral</vt:lpstr>
      <vt:lpstr>Analytical CRM Development for a Bank</vt:lpstr>
      <vt:lpstr>AGENDA</vt:lpstr>
      <vt:lpstr>Problem Statement</vt:lpstr>
      <vt:lpstr>Methodology</vt:lpstr>
      <vt:lpstr>Data Overview</vt:lpstr>
      <vt:lpstr>PowerPoint Presentation</vt:lpstr>
      <vt:lpstr>Churn Rates</vt:lpstr>
      <vt:lpstr>Customers Acquisition over the Years</vt:lpstr>
      <vt:lpstr>Customer Behavior Analysis</vt:lpstr>
      <vt:lpstr>Salary vs. Balance</vt:lpstr>
      <vt:lpstr>Product Affinity Study</vt:lpstr>
      <vt:lpstr>Geographic market trends</vt:lpstr>
      <vt:lpstr>Risk Management Assessment</vt:lpstr>
      <vt:lpstr>Customer Lifetime Value Forecast </vt:lpstr>
      <vt:lpstr>Marketing Campaign Effectiveness</vt:lpstr>
      <vt:lpstr>Campaign Effectiveness over Time</vt:lpstr>
      <vt:lpstr>            Comparative Analysis </vt:lpstr>
      <vt:lpstr>Conclusion</vt:lpstr>
      <vt:lpstr>Dashboard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CRM development for a Bank</dc:title>
  <dc:creator>Admin</dc:creator>
  <cp:lastModifiedBy>Pooja Dagadkhair</cp:lastModifiedBy>
  <cp:revision>17</cp:revision>
  <dcterms:created xsi:type="dcterms:W3CDTF">2024-11-08T04:34:47Z</dcterms:created>
  <dcterms:modified xsi:type="dcterms:W3CDTF">2026-01-09T09:38:57Z</dcterms:modified>
</cp:coreProperties>
</file>